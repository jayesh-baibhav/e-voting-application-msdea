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2" r:id="rId2"/>
    <p:sldId id="256" r:id="rId3"/>
    <p:sldId id="260" r:id="rId4"/>
    <p:sldId id="261" r:id="rId5"/>
    <p:sldId id="263" r:id="rId6"/>
    <p:sldId id="264" r:id="rId7"/>
    <p:sldId id="265" r:id="rId8"/>
    <p:sldId id="266" r:id="rId9"/>
    <p:sldId id="267" r:id="rId10"/>
    <p:sldId id="269"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3.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68B00F-6FFF-4C85-AA6B-B72FAF4D93B5}"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B2E51ACF-7AAE-4E58-9A9C-D84B1AC670DC}">
      <dgm:prSet phldrT="[Text]"/>
      <dgm:spPr/>
      <dgm:t>
        <a:bodyPr/>
        <a:lstStyle/>
        <a:p>
          <a:endParaRPr lang="en-US" dirty="0"/>
        </a:p>
        <a:p>
          <a:r>
            <a:rPr lang="en-US" dirty="0"/>
            <a:t> </a:t>
          </a:r>
        </a:p>
      </dgm:t>
    </dgm:pt>
    <dgm:pt modelId="{18C46746-7788-4D8B-8548-688076DA985F}" type="parTrans" cxnId="{30E31996-57E0-4ABE-8A01-EDC5E3293B28}">
      <dgm:prSet/>
      <dgm:spPr/>
      <dgm:t>
        <a:bodyPr/>
        <a:lstStyle/>
        <a:p>
          <a:endParaRPr lang="en-US"/>
        </a:p>
      </dgm:t>
    </dgm:pt>
    <dgm:pt modelId="{2823F48F-54C9-4A09-B934-F8108E5A7B50}" type="sibTrans" cxnId="{30E31996-57E0-4ABE-8A01-EDC5E3293B28}">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13000" r="-13000"/>
          </a:stretch>
        </a:blipFill>
        <a:effectLst>
          <a:softEdge rad="317500"/>
        </a:effectLst>
      </dgm:spPr>
      <dgm:t>
        <a:bodyPr/>
        <a:lstStyle/>
        <a:p>
          <a:endParaRPr lang="en-US"/>
        </a:p>
      </dgm:t>
    </dgm:pt>
    <dgm:pt modelId="{5B3D04EA-F865-43E2-AC36-2DB3B653808C}" type="pres">
      <dgm:prSet presAssocID="{4B68B00F-6FFF-4C85-AA6B-B72FAF4D93B5}" presName="Name0" presStyleCnt="0">
        <dgm:presLayoutVars>
          <dgm:chMax val="7"/>
          <dgm:chPref val="7"/>
          <dgm:dir/>
        </dgm:presLayoutVars>
      </dgm:prSet>
      <dgm:spPr/>
    </dgm:pt>
    <dgm:pt modelId="{F6D9501B-CF93-4F4D-ACDD-6B8C4E898765}" type="pres">
      <dgm:prSet presAssocID="{4B68B00F-6FFF-4C85-AA6B-B72FAF4D93B5}" presName="Name1" presStyleCnt="0"/>
      <dgm:spPr/>
    </dgm:pt>
    <dgm:pt modelId="{A0CFFE4F-83E4-4271-8F8C-1AD79B1A3D9B}" type="pres">
      <dgm:prSet presAssocID="{2823F48F-54C9-4A09-B934-F8108E5A7B50}" presName="picture_1" presStyleCnt="0"/>
      <dgm:spPr/>
    </dgm:pt>
    <dgm:pt modelId="{CB8BB458-350B-4F36-BB57-153356FF68CF}" type="pres">
      <dgm:prSet presAssocID="{2823F48F-54C9-4A09-B934-F8108E5A7B50}" presName="pictureRepeatNode" presStyleLbl="alignImgPlace1" presStyleIdx="0" presStyleCnt="1" custScaleX="234600" custScaleY="80059" custLinFactNeighborX="-16707" custLinFactNeighborY="29375"/>
      <dgm:spPr/>
    </dgm:pt>
    <dgm:pt modelId="{B16F7EC1-8CA9-4975-BD5B-7DBF456D7177}" type="pres">
      <dgm:prSet presAssocID="{B2E51ACF-7AAE-4E58-9A9C-D84B1AC670DC}" presName="text_1" presStyleLbl="node1" presStyleIdx="0" presStyleCnt="0">
        <dgm:presLayoutVars>
          <dgm:bulletEnabled val="1"/>
        </dgm:presLayoutVars>
      </dgm:prSet>
      <dgm:spPr/>
    </dgm:pt>
  </dgm:ptLst>
  <dgm:cxnLst>
    <dgm:cxn modelId="{0D95A35C-6B1A-42E0-86AB-C8153A45AD03}" type="presOf" srcId="{B2E51ACF-7AAE-4E58-9A9C-D84B1AC670DC}" destId="{B16F7EC1-8CA9-4975-BD5B-7DBF456D7177}" srcOrd="0" destOrd="0" presId="urn:microsoft.com/office/officeart/2008/layout/CircularPictureCallout"/>
    <dgm:cxn modelId="{00A82348-FC94-4F17-8EE2-47D68F904F24}" type="presOf" srcId="{2823F48F-54C9-4A09-B934-F8108E5A7B50}" destId="{CB8BB458-350B-4F36-BB57-153356FF68CF}" srcOrd="0" destOrd="0" presId="urn:microsoft.com/office/officeart/2008/layout/CircularPictureCallout"/>
    <dgm:cxn modelId="{30E31996-57E0-4ABE-8A01-EDC5E3293B28}" srcId="{4B68B00F-6FFF-4C85-AA6B-B72FAF4D93B5}" destId="{B2E51ACF-7AAE-4E58-9A9C-D84B1AC670DC}" srcOrd="0" destOrd="0" parTransId="{18C46746-7788-4D8B-8548-688076DA985F}" sibTransId="{2823F48F-54C9-4A09-B934-F8108E5A7B50}"/>
    <dgm:cxn modelId="{CEB6159A-037D-44CA-BEAC-B0BDD70B269D}" type="presOf" srcId="{4B68B00F-6FFF-4C85-AA6B-B72FAF4D93B5}" destId="{5B3D04EA-F865-43E2-AC36-2DB3B653808C}" srcOrd="0" destOrd="0" presId="urn:microsoft.com/office/officeart/2008/layout/CircularPictureCallout"/>
    <dgm:cxn modelId="{016ED8EC-0703-42A5-A715-929AB643E9DD}" type="presParOf" srcId="{5B3D04EA-F865-43E2-AC36-2DB3B653808C}" destId="{F6D9501B-CF93-4F4D-ACDD-6B8C4E898765}" srcOrd="0" destOrd="0" presId="urn:microsoft.com/office/officeart/2008/layout/CircularPictureCallout"/>
    <dgm:cxn modelId="{6CD9612B-421F-4B60-84D1-0831D8919227}" type="presParOf" srcId="{F6D9501B-CF93-4F4D-ACDD-6B8C4E898765}" destId="{A0CFFE4F-83E4-4271-8F8C-1AD79B1A3D9B}" srcOrd="0" destOrd="0" presId="urn:microsoft.com/office/officeart/2008/layout/CircularPictureCallout"/>
    <dgm:cxn modelId="{ED5604C6-E2D7-4D8C-BF77-4906629CA9F7}" type="presParOf" srcId="{A0CFFE4F-83E4-4271-8F8C-1AD79B1A3D9B}" destId="{CB8BB458-350B-4F36-BB57-153356FF68CF}" srcOrd="0" destOrd="0" presId="urn:microsoft.com/office/officeart/2008/layout/CircularPictureCallout"/>
    <dgm:cxn modelId="{315E6F3E-5D87-4F14-9E0B-4F8EC1C47538}" type="presParOf" srcId="{F6D9501B-CF93-4F4D-ACDD-6B8C4E898765}" destId="{B16F7EC1-8CA9-4975-BD5B-7DBF456D7177}"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BB458-350B-4F36-BB57-153356FF68CF}">
      <dsp:nvSpPr>
        <dsp:cNvPr id="0" name=""/>
        <dsp:cNvSpPr/>
      </dsp:nvSpPr>
      <dsp:spPr>
        <a:xfrm>
          <a:off x="2653060" y="486776"/>
          <a:ext cx="5726778" cy="195430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3000" r="-13000"/>
          </a:stretch>
        </a:blipFill>
        <a:ln w="19050" cap="rnd" cmpd="sng" algn="ctr">
          <a:solidFill>
            <a:schemeClr val="lt1">
              <a:hueOff val="0"/>
              <a:satOff val="0"/>
              <a:lumOff val="0"/>
              <a:alphaOff val="0"/>
            </a:schemeClr>
          </a:solidFill>
          <a:prstDash val="solid"/>
        </a:ln>
        <a:effectLst>
          <a:softEdge rad="317500"/>
        </a:effectLst>
      </dsp:spPr>
      <dsp:style>
        <a:lnRef idx="2">
          <a:scrgbClr r="0" g="0" b="0"/>
        </a:lnRef>
        <a:fillRef idx="1">
          <a:scrgbClr r="0" g="0" b="0"/>
        </a:fillRef>
        <a:effectRef idx="0">
          <a:scrgbClr r="0" g="0" b="0"/>
        </a:effectRef>
        <a:fontRef idx="minor"/>
      </dsp:style>
    </dsp:sp>
    <dsp:sp modelId="{B16F7EC1-8CA9-4975-BD5B-7DBF456D7177}">
      <dsp:nvSpPr>
        <dsp:cNvPr id="0" name=""/>
        <dsp:cNvSpPr/>
      </dsp:nvSpPr>
      <dsp:spPr>
        <a:xfrm>
          <a:off x="5143135" y="1296214"/>
          <a:ext cx="1562292" cy="805557"/>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1111250">
            <a:lnSpc>
              <a:spcPct val="90000"/>
            </a:lnSpc>
            <a:spcBef>
              <a:spcPct val="0"/>
            </a:spcBef>
            <a:spcAft>
              <a:spcPct val="35000"/>
            </a:spcAft>
            <a:buNone/>
          </a:pPr>
          <a:endParaRPr lang="en-US" sz="2500" kern="1200" dirty="0"/>
        </a:p>
        <a:p>
          <a:pPr marL="0" lvl="0" indent="0" algn="ctr" defTabSz="1111250">
            <a:lnSpc>
              <a:spcPct val="90000"/>
            </a:lnSpc>
            <a:spcBef>
              <a:spcPct val="0"/>
            </a:spcBef>
            <a:spcAft>
              <a:spcPct val="35000"/>
            </a:spcAft>
            <a:buNone/>
          </a:pPr>
          <a:r>
            <a:rPr lang="en-US" sz="2500" kern="1200" dirty="0"/>
            <a:t> </a:t>
          </a:r>
        </a:p>
      </dsp:txBody>
      <dsp:txXfrm>
        <a:off x="5143135" y="1296214"/>
        <a:ext cx="1562292" cy="805557"/>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8/6/2020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8/6/2020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prstTxWarp prst="textArchUp">
              <a:avLst/>
            </a:prstTxWarp>
            <a:normAutofit/>
          </a:bodyPr>
          <a:lstStyle/>
          <a:p>
            <a:r>
              <a:rPr lang="en-US" sz="4400" b="1" dirty="0">
                <a:solidFill>
                  <a:srgbClr val="FF0000"/>
                </a:solidFill>
                <a:effectLst>
                  <a:outerShdw blurRad="38100" dist="38100" dir="2700000" algn="tl">
                    <a:srgbClr val="000000">
                      <a:alpha val="43137"/>
                    </a:srgbClr>
                  </a:outerShdw>
                </a:effectLst>
              </a:rPr>
              <a:t>       SATHYABAMA INSTITUE OF SCIENCE AND TECHNOLOGY</a:t>
            </a:r>
          </a:p>
        </p:txBody>
      </p:sp>
      <p:sp>
        <p:nvSpPr>
          <p:cNvPr id="7" name="Rectangle 6"/>
          <p:cNvSpPr/>
          <p:nvPr/>
        </p:nvSpPr>
        <p:spPr>
          <a:xfrm>
            <a:off x="6003634" y="2967335"/>
            <a:ext cx="184731"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endParaRPr lang="en-US" sz="5400" b="1" cap="none" spc="0" dirty="0">
              <a:ln/>
              <a:solidFill>
                <a:schemeClr val="accent4"/>
              </a:solidFill>
              <a:effectLst/>
            </a:endParaRPr>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37298" y="758805"/>
            <a:ext cx="2076740" cy="1312212"/>
          </a:xfrm>
          <a:prstGeom prst="roundRect">
            <a:avLst>
              <a:gd name="adj" fmla="val 8594"/>
            </a:avLst>
          </a:prstGeom>
          <a:solidFill>
            <a:srgbClr val="FFFFFF">
              <a:shade val="85000"/>
            </a:srgbClr>
          </a:solidFill>
          <a:ln>
            <a:noFill/>
          </a:ln>
          <a:effectLst>
            <a:reflection blurRad="12700" stA="38000" endPos="28000" dist="5000" dir="5400000" sy="-100000" algn="bl" rotWithShape="0"/>
            <a:softEdge rad="127000"/>
          </a:effectLst>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2901" y="4047266"/>
            <a:ext cx="5348086" cy="823825"/>
          </a:xfrm>
          <a:prstGeom prst="rect">
            <a:avLst/>
          </a:prstGeom>
          <a:effectLst>
            <a:softEdge rad="127000"/>
          </a:effectLst>
          <a:scene3d>
            <a:camera prst="orthographicFront"/>
            <a:lightRig rig="threePt" dir="t"/>
          </a:scene3d>
          <a:sp3d>
            <a:bevelT w="165100" prst="coolSlant"/>
          </a:sp3d>
        </p:spPr>
      </p:pic>
      <p:sp>
        <p:nvSpPr>
          <p:cNvPr id="16" name="Rectangle 15"/>
          <p:cNvSpPr/>
          <p:nvPr/>
        </p:nvSpPr>
        <p:spPr>
          <a:xfrm>
            <a:off x="1266411" y="2313302"/>
            <a:ext cx="8341065" cy="954107"/>
          </a:xfrm>
          <a:prstGeom prst="rect">
            <a:avLst/>
          </a:prstGeom>
          <a:noFill/>
        </p:spPr>
        <p:txBody>
          <a:bodyPr wrap="none" lIns="91440" tIns="45720" rIns="91440" bIns="45720">
            <a:spAutoFit/>
          </a:bodyPr>
          <a:lstStyle/>
          <a:p>
            <a:pPr algn="ctr"/>
            <a:r>
              <a:rPr lang="en-US"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Modern Secured Digital E-Voting &amp; Analysis –MSDEA</a:t>
            </a:r>
          </a:p>
          <a:p>
            <a:pPr algn="ctr"/>
            <a:r>
              <a:rPr lang="en-US"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(e-Voting Application)</a:t>
            </a:r>
          </a:p>
        </p:txBody>
      </p:sp>
      <p:sp>
        <p:nvSpPr>
          <p:cNvPr id="18" name="Rectangle 17"/>
          <p:cNvSpPr/>
          <p:nvPr/>
        </p:nvSpPr>
        <p:spPr>
          <a:xfrm>
            <a:off x="3773668" y="3367445"/>
            <a:ext cx="3326552" cy="523220"/>
          </a:xfrm>
          <a:prstGeom prst="rect">
            <a:avLst/>
          </a:prstGeom>
          <a:noFill/>
        </p:spPr>
        <p:txBody>
          <a:bodyPr wrap="none" lIns="91440" tIns="45720" rIns="91440" bIns="45720">
            <a:spAutoFit/>
            <a:scene3d>
              <a:camera prst="orthographicFront"/>
              <a:lightRig rig="threePt" dir="t"/>
            </a:scene3d>
            <a:sp3d extrusionH="57150">
              <a:bevelT w="38100" h="38100" prst="convex"/>
            </a:sp3d>
          </a:bodyPr>
          <a:lstStyle/>
          <a:p>
            <a:pPr algn="ctr"/>
            <a:r>
              <a:rPr lang="en-US"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parajita" panose="02020603050405020304" pitchFamily="18" charset="0"/>
                <a:cs typeface="Aparajita" panose="02020603050405020304" pitchFamily="18" charset="0"/>
              </a:rPr>
              <a:t>PRESENTED BY TEAM</a:t>
            </a:r>
          </a:p>
        </p:txBody>
      </p:sp>
      <p:sp>
        <p:nvSpPr>
          <p:cNvPr id="20" name="Rectangle 19"/>
          <p:cNvSpPr/>
          <p:nvPr/>
        </p:nvSpPr>
        <p:spPr>
          <a:xfrm>
            <a:off x="159985" y="5332070"/>
            <a:ext cx="2827173" cy="461665"/>
          </a:xfrm>
          <a:prstGeom prst="rect">
            <a:avLst/>
          </a:prstGeom>
          <a:noFill/>
        </p:spPr>
        <p:txBody>
          <a:bodyPr wrap="square" lIns="91440" tIns="45720" rIns="91440" bIns="45720">
            <a:spAutoFit/>
          </a:bodyPr>
          <a:lstStyle/>
          <a:p>
            <a:pPr algn="ctr"/>
            <a:r>
              <a:rPr lang="en-US" sz="2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alpha val="43137"/>
                    </a:srgbClr>
                  </a:outerShdw>
                </a:effectLst>
              </a:rPr>
              <a:t>Team Members</a:t>
            </a:r>
            <a:endParaRPr lang="en-US"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alpha val="43137"/>
                  </a:srgbClr>
                </a:outerShdw>
              </a:effectLst>
            </a:endParaRPr>
          </a:p>
        </p:txBody>
      </p:sp>
      <p:sp>
        <p:nvSpPr>
          <p:cNvPr id="22" name="Rectangle 21"/>
          <p:cNvSpPr/>
          <p:nvPr/>
        </p:nvSpPr>
        <p:spPr>
          <a:xfrm>
            <a:off x="441718" y="5925234"/>
            <a:ext cx="2545440" cy="646331"/>
          </a:xfrm>
          <a:prstGeom prst="rect">
            <a:avLst/>
          </a:prstGeom>
          <a:noFill/>
        </p:spPr>
        <p:txBody>
          <a:bodyPr wrap="none" lIns="91440" tIns="45720" rIns="91440" bIns="45720">
            <a:spAutoFit/>
          </a:bodyPr>
          <a:lstStyle/>
          <a:p>
            <a:r>
              <a:rPr lang="en-US"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JAYESH BAIBHAV</a:t>
            </a:r>
          </a:p>
          <a:p>
            <a:r>
              <a:rPr lang="en-US" b="1" dirty="0">
                <a:ln w="9525">
                  <a:solidFill>
                    <a:schemeClr val="bg1"/>
                  </a:solidFill>
                  <a:prstDash val="solid"/>
                </a:ln>
                <a:effectLst>
                  <a:outerShdw blurRad="12700" dist="38100" dir="2700000" algn="tl" rotWithShape="0">
                    <a:schemeClr val="bg1">
                      <a:lumMod val="50000"/>
                    </a:schemeClr>
                  </a:outerShdw>
                </a:effectLst>
              </a:rPr>
              <a:t>JYOTISHMAN GHATAK </a:t>
            </a:r>
          </a:p>
        </p:txBody>
      </p:sp>
    </p:spTree>
    <p:extLst>
      <p:ext uri="{BB962C8B-B14F-4D97-AF65-F5344CB8AC3E}">
        <p14:creationId xmlns:p14="http://schemas.microsoft.com/office/powerpoint/2010/main" val="2027966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330941536"/>
              </p:ext>
            </p:extLst>
          </p:nvPr>
        </p:nvGraphicFramePr>
        <p:xfrm>
          <a:off x="-90152" y="-573645"/>
          <a:ext cx="11848563" cy="24410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p:cNvSpPr/>
          <p:nvPr/>
        </p:nvSpPr>
        <p:spPr>
          <a:xfrm>
            <a:off x="6003635" y="2967335"/>
            <a:ext cx="184730" cy="923330"/>
          </a:xfrm>
          <a:prstGeom prst="rect">
            <a:avLst/>
          </a:prstGeom>
          <a:noFill/>
        </p:spPr>
        <p:txBody>
          <a:bodyPr wrap="none" lIns="91440" tIns="45720" rIns="91440" bIns="45720">
            <a:spAutoFit/>
          </a:bodyPr>
          <a:lstStyle/>
          <a:p>
            <a:pPr algn="ct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0" name="TextBox 9"/>
          <p:cNvSpPr txBox="1"/>
          <p:nvPr/>
        </p:nvSpPr>
        <p:spPr>
          <a:xfrm>
            <a:off x="513007" y="2120215"/>
            <a:ext cx="10367493" cy="4247317"/>
          </a:xfrm>
          <a:prstGeom prst="rect">
            <a:avLst/>
          </a:prstGeom>
          <a:noFill/>
        </p:spPr>
        <p:txBody>
          <a:bodyPr wrap="square" rtlCol="0">
            <a:spAutoFit/>
          </a:bodyPr>
          <a:lstStyle/>
          <a:p>
            <a:r>
              <a:rPr lang="en-US" sz="3600" b="1" u="sng" dirty="0">
                <a:solidFill>
                  <a:schemeClr val="accent5">
                    <a:lumMod val="50000"/>
                  </a:schemeClr>
                </a:solidFill>
                <a:effectLst>
                  <a:outerShdw blurRad="38100" dist="38100" dir="2700000" algn="tl">
                    <a:srgbClr val="000000">
                      <a:alpha val="43137"/>
                    </a:srgbClr>
                  </a:outerShdw>
                </a:effectLst>
                <a:latin typeface="Algerian" panose="04020705040A02060702" pitchFamily="82" charset="0"/>
              </a:rPr>
              <a:t>Introduction-</a:t>
            </a:r>
          </a:p>
          <a:p>
            <a:endParaRPr lang="en-US" dirty="0">
              <a:solidFill>
                <a:srgbClr val="0070C0"/>
              </a:solidFill>
              <a:effectLst>
                <a:outerShdw blurRad="38100" dist="38100" dir="2700000" algn="tl">
                  <a:srgbClr val="000000">
                    <a:alpha val="43137"/>
                  </a:srgbClr>
                </a:outerShdw>
              </a:effectLst>
              <a:latin typeface="Bahnschrift" panose="020B0502040204020203" pitchFamily="34" charset="0"/>
              <a:cs typeface="Aharoni" panose="02010803020104030203" pitchFamily="2" charset="-79"/>
            </a:endParaRP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In these challenging COVID-19 times, the question on how to deal with the</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upcoming elections while maintaining proper social distancing norms has already</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been raised by several voices. </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We have been listening since ages that e-Voting is the future of election but now we’re right </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in that future, and that’s our need too.</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So, we come up with an easy and secured system named </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“Modern Secured</a:t>
            </a:r>
            <a:r>
              <a:rPr lang="nn-NO"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Digital e-Voting &amp; Analysis” aka “MSDEA”.</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MSDEA allows member to login with their credentials.</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It can be access though any system which is connected though internet connectivity .</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It can generate the result within seconds after Election . </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This system promotes transparency in the voting system in comparison to the</a:t>
            </a:r>
          </a:p>
          <a:p>
            <a:r>
              <a:rPr lang="en-US" dirty="0">
                <a:effectLst>
                  <a:outerShdw blurRad="38100" dist="38100" dir="2700000" algn="tl">
                    <a:srgbClr val="000000">
                      <a:alpha val="43137"/>
                    </a:srgbClr>
                  </a:outerShdw>
                </a:effectLst>
                <a:latin typeface="Bahnschrift" panose="020B0502040204020203" pitchFamily="34" charset="0"/>
                <a:cs typeface="Aharoni" panose="02010803020104030203" pitchFamily="2" charset="-79"/>
              </a:rPr>
              <a:t>traditional Voting System.</a:t>
            </a:r>
          </a:p>
        </p:txBody>
      </p:sp>
    </p:spTree>
    <p:extLst>
      <p:ext uri="{BB962C8B-B14F-4D97-AF65-F5344CB8AC3E}">
        <p14:creationId xmlns:p14="http://schemas.microsoft.com/office/powerpoint/2010/main" val="241640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77334" y="0"/>
            <a:ext cx="9780311" cy="646331"/>
          </a:xfrm>
          <a:prstGeom prst="rect">
            <a:avLst/>
          </a:prstGeom>
          <a:noFill/>
        </p:spPr>
        <p:txBody>
          <a:bodyPr wrap="square" lIns="91440" tIns="45720" rIns="91440" bIns="45720">
            <a:spAutoFit/>
          </a:bodyPr>
          <a:lstStyle/>
          <a:p>
            <a:pPr algn="ctr"/>
            <a:r>
              <a:rPr lang="en-US" sz="3600" b="1" u="sng" dirty="0">
                <a:solidFill>
                  <a:schemeClr val="accent5">
                    <a:lumMod val="50000"/>
                  </a:schemeClr>
                </a:solidFill>
                <a:effectLst>
                  <a:outerShdw blurRad="38100" dist="38100" dir="2700000" algn="tl">
                    <a:srgbClr val="000000">
                      <a:alpha val="43137"/>
                    </a:srgbClr>
                  </a:outerShdw>
                </a:effectLst>
                <a:latin typeface="Algerian" panose="04020705040A02060702" pitchFamily="82" charset="0"/>
              </a:rPr>
              <a:t>WORKING</a:t>
            </a:r>
          </a:p>
        </p:txBody>
      </p:sp>
      <p:sp>
        <p:nvSpPr>
          <p:cNvPr id="6" name="Rectangle 5"/>
          <p:cNvSpPr/>
          <p:nvPr/>
        </p:nvSpPr>
        <p:spPr>
          <a:xfrm>
            <a:off x="-1223493" y="1043190"/>
            <a:ext cx="12713127" cy="4462760"/>
          </a:xfrm>
          <a:prstGeom prst="rect">
            <a:avLst/>
          </a:prstGeom>
          <a:noFill/>
        </p:spPr>
        <p:txBody>
          <a:bodyPr wrap="square" lIns="91440" tIns="45720" rIns="91440" bIns="45720">
            <a:spAutoFit/>
          </a:bodyPr>
          <a:lstStyle/>
          <a:p>
            <a:pPr lvl="3"/>
            <a:r>
              <a:rPr lang="en-US" sz="2000" dirty="0">
                <a:latin typeface="Bahnschrift" panose="020B0502040204020203" pitchFamily="34" charset="0"/>
              </a:rPr>
              <a:t>The system will be having two major parts-</a:t>
            </a:r>
          </a:p>
          <a:p>
            <a:pPr lvl="3"/>
            <a:r>
              <a:rPr lang="en-US" sz="2000" dirty="0">
                <a:latin typeface="Bahnschrift" panose="020B0502040204020203" pitchFamily="34" charset="0"/>
              </a:rPr>
              <a:t>1. Admin Panel</a:t>
            </a:r>
          </a:p>
          <a:p>
            <a:pPr lvl="3"/>
            <a:r>
              <a:rPr lang="en-US" sz="2000" dirty="0">
                <a:latin typeface="Bahnschrift" panose="020B0502040204020203" pitchFamily="34" charset="0"/>
              </a:rPr>
              <a:t>2. Voter’s Interface</a:t>
            </a:r>
          </a:p>
          <a:p>
            <a:pPr lvl="3"/>
            <a:endParaRPr lang="en-US" sz="2000" dirty="0">
              <a:latin typeface="Bahnschrift" panose="020B0502040204020203" pitchFamily="34" charset="0"/>
            </a:endParaRPr>
          </a:p>
          <a:p>
            <a:pPr marL="1714500" lvl="3" indent="-342900">
              <a:buFont typeface="Wingdings" panose="05000000000000000000" pitchFamily="2" charset="2"/>
              <a:buChar char="q"/>
            </a:pPr>
            <a:r>
              <a:rPr lang="en-US" sz="2400" b="1" u="sng" dirty="0">
                <a:latin typeface="Bahnschrift" panose="020B0502040204020203" pitchFamily="34" charset="0"/>
              </a:rPr>
              <a:t>Admin Panel:</a:t>
            </a:r>
          </a:p>
          <a:p>
            <a:pPr lvl="3"/>
            <a:endParaRPr lang="en-US" sz="2000" dirty="0">
              <a:latin typeface="Bahnschrift" panose="020B0502040204020203" pitchFamily="34" charset="0"/>
            </a:endParaRPr>
          </a:p>
          <a:p>
            <a:pPr lvl="3"/>
            <a:r>
              <a:rPr lang="en-US" sz="2000" dirty="0">
                <a:latin typeface="Bahnschrift" panose="020B0502040204020203" pitchFamily="34" charset="0"/>
              </a:rPr>
              <a:t>Admin Panel is designed as such so that it can be used easily by Government</a:t>
            </a:r>
          </a:p>
          <a:p>
            <a:pPr lvl="3"/>
            <a:r>
              <a:rPr lang="en-US" sz="2000" dirty="0">
                <a:latin typeface="Bahnschrift" panose="020B0502040204020203" pitchFamily="34" charset="0"/>
              </a:rPr>
              <a:t>Officials, from here the concerned authority can do the following tasks-</a:t>
            </a:r>
          </a:p>
          <a:p>
            <a:pPr lvl="3"/>
            <a:endParaRPr lang="en-US" sz="2000" dirty="0">
              <a:latin typeface="Bahnschrift" panose="020B0502040204020203" pitchFamily="34" charset="0"/>
            </a:endParaRPr>
          </a:p>
          <a:p>
            <a:pPr marL="1714500" lvl="3" indent="-342900">
              <a:buFont typeface="Wingdings" panose="05000000000000000000" pitchFamily="2" charset="2"/>
              <a:buChar char="v"/>
            </a:pPr>
            <a:r>
              <a:rPr lang="en-US" sz="2000" dirty="0">
                <a:latin typeface="Bahnschrift" panose="020B0502040204020203" pitchFamily="34" charset="0"/>
              </a:rPr>
              <a:t> Add Candidate/View Candidate List</a:t>
            </a:r>
          </a:p>
          <a:p>
            <a:pPr marL="1714500" lvl="3" indent="-342900">
              <a:buFont typeface="Wingdings" panose="05000000000000000000" pitchFamily="2" charset="2"/>
              <a:buChar char="v"/>
            </a:pPr>
            <a:r>
              <a:rPr lang="en-US" sz="2000" dirty="0">
                <a:latin typeface="Bahnschrift" panose="020B0502040204020203" pitchFamily="34" charset="0"/>
              </a:rPr>
              <a:t> View Voter List</a:t>
            </a:r>
          </a:p>
          <a:p>
            <a:pPr marL="1714500" lvl="3" indent="-342900">
              <a:buFont typeface="Wingdings" panose="05000000000000000000" pitchFamily="2" charset="2"/>
              <a:buChar char="v"/>
            </a:pPr>
            <a:r>
              <a:rPr lang="en-US" sz="2000" dirty="0">
                <a:latin typeface="Bahnschrift" panose="020B0502040204020203" pitchFamily="34" charset="0"/>
              </a:rPr>
              <a:t>Validate or delete the newly registered Voters.</a:t>
            </a:r>
          </a:p>
          <a:p>
            <a:pPr marL="1714500" lvl="3" indent="-342900">
              <a:buFont typeface="Wingdings" panose="05000000000000000000" pitchFamily="2" charset="2"/>
              <a:buChar char="v"/>
            </a:pPr>
            <a:r>
              <a:rPr lang="en-US" sz="2000" dirty="0">
                <a:latin typeface="Bahnschrift" panose="020B0502040204020203" pitchFamily="34" charset="0"/>
              </a:rPr>
              <a:t> View real-time Vote Count, and Final Vote Count</a:t>
            </a:r>
          </a:p>
          <a:p>
            <a:pPr lvl="3"/>
            <a:endParaRPr lang="en-US" sz="2000" dirty="0">
              <a:latin typeface="Bahnschrift" panose="020B0502040204020203" pitchFamily="34" charset="0"/>
            </a:endParaRPr>
          </a:p>
        </p:txBody>
      </p:sp>
    </p:spTree>
    <p:extLst>
      <p:ext uri="{BB962C8B-B14F-4D97-AF65-F5344CB8AC3E}">
        <p14:creationId xmlns:p14="http://schemas.microsoft.com/office/powerpoint/2010/main" val="1295760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1304" y="555396"/>
            <a:ext cx="9515061" cy="5693866"/>
          </a:xfrm>
          <a:prstGeom prst="rect">
            <a:avLst/>
          </a:prstGeom>
          <a:noFill/>
        </p:spPr>
        <p:txBody>
          <a:bodyPr wrap="square" lIns="91440" tIns="45720" rIns="91440" bIns="45720">
            <a:spAutoFit/>
          </a:bodyPr>
          <a:lstStyle/>
          <a:p>
            <a:pPr marL="342900" indent="-342900">
              <a:buFont typeface="Wingdings" panose="05000000000000000000" pitchFamily="2" charset="2"/>
              <a:buChar char="q"/>
            </a:pPr>
            <a:r>
              <a:rPr lang="en-US" sz="2400" b="1" u="sng" dirty="0">
                <a:latin typeface="Bahnschrift" panose="020B0502040204020203" pitchFamily="34" charset="0"/>
              </a:rPr>
              <a:t>Voter’s Interface:</a:t>
            </a:r>
          </a:p>
          <a:p>
            <a:endParaRPr lang="en-US" sz="2000" dirty="0">
              <a:latin typeface="Bahnschrift" panose="020B0502040204020203" pitchFamily="34" charset="0"/>
            </a:endParaRPr>
          </a:p>
          <a:p>
            <a:r>
              <a:rPr lang="en-US" sz="2000" dirty="0">
                <a:latin typeface="Bahnschrift" panose="020B0502040204020203" pitchFamily="34" charset="0"/>
              </a:rPr>
              <a:t>Voter’s Interface is designed as such that it can be used with very ease by a wide</a:t>
            </a:r>
          </a:p>
          <a:p>
            <a:r>
              <a:rPr lang="en-US" sz="2000" dirty="0">
                <a:latin typeface="Bahnschrift" panose="020B0502040204020203" pitchFamily="34" charset="0"/>
              </a:rPr>
              <a:t>class of people, the only thing the Voter needs to cast their vote is either of</a:t>
            </a:r>
          </a:p>
          <a:p>
            <a:r>
              <a:rPr lang="en-US" sz="2000" dirty="0">
                <a:latin typeface="Bahnschrift" panose="020B0502040204020203" pitchFamily="34" charset="0"/>
              </a:rPr>
              <a:t>Mobile, Tablet or Computer System and a working internet connection’s.</a:t>
            </a:r>
          </a:p>
          <a:p>
            <a:endParaRPr lang="en-US" sz="2000" dirty="0">
              <a:latin typeface="Bahnschrift" panose="020B0502040204020203" pitchFamily="34" charset="0"/>
            </a:endParaRPr>
          </a:p>
          <a:p>
            <a:r>
              <a:rPr lang="en-US" sz="2000" dirty="0">
                <a:latin typeface="Bahnschrift" panose="020B0502040204020203" pitchFamily="34" charset="0"/>
              </a:rPr>
              <a:t>At the login panel of Voter’s Interface Voter needs to login with their unique credential, and thereafter successful login they can cast their vote to candidates of their choice. These casted votes are accepted by the system at the server database.</a:t>
            </a:r>
          </a:p>
          <a:p>
            <a:endParaRPr lang="en-US" sz="2000" dirty="0">
              <a:latin typeface="Bahnschrift" panose="020B0502040204020203" pitchFamily="34" charset="0"/>
            </a:endParaRPr>
          </a:p>
          <a:p>
            <a:r>
              <a:rPr lang="en-US" sz="2000" dirty="0">
                <a:latin typeface="Bahnschrift" panose="020B0502040204020203" pitchFamily="34" charset="0"/>
              </a:rPr>
              <a:t>This Voter’s Interface come with the following security layers-</a:t>
            </a:r>
          </a:p>
          <a:p>
            <a:pPr marL="342900" indent="-342900">
              <a:buFont typeface="Wingdings" panose="05000000000000000000" pitchFamily="2" charset="2"/>
              <a:buChar char="v"/>
            </a:pPr>
            <a:r>
              <a:rPr lang="en-US" sz="2000" dirty="0">
                <a:latin typeface="Bahnschrift" panose="020B0502040204020203" pitchFamily="34" charset="0"/>
              </a:rPr>
              <a:t> Authentication of Voter’s login credential from the database.</a:t>
            </a:r>
          </a:p>
          <a:p>
            <a:pPr marL="342900" indent="-342900">
              <a:buFont typeface="Wingdings" panose="05000000000000000000" pitchFamily="2" charset="2"/>
              <a:buChar char="v"/>
            </a:pPr>
            <a:r>
              <a:rPr lang="en-US" sz="2000" dirty="0">
                <a:latin typeface="Bahnschrift" panose="020B0502040204020203" pitchFamily="34" charset="0"/>
              </a:rPr>
              <a:t>Checks for duplicate doting i.e. same Voter can’t cast their vote twice</a:t>
            </a:r>
          </a:p>
          <a:p>
            <a:pPr marL="342900" indent="-342900">
              <a:buFont typeface="Wingdings" panose="05000000000000000000" pitchFamily="2" charset="2"/>
              <a:buChar char="v"/>
            </a:pPr>
            <a:r>
              <a:rPr lang="en-US" sz="2000" dirty="0">
                <a:latin typeface="Bahnschrift" panose="020B0502040204020203" pitchFamily="34" charset="0"/>
              </a:rPr>
              <a:t>For new voter there is an option of real-time Registration at Voter’s</a:t>
            </a:r>
          </a:p>
          <a:p>
            <a:r>
              <a:rPr lang="en-US" sz="2000" dirty="0">
                <a:latin typeface="Bahnschrift" panose="020B0502040204020203" pitchFamily="34" charset="0"/>
              </a:rPr>
              <a:t>     Interface, which is later validated by the concerned authority that the</a:t>
            </a:r>
          </a:p>
          <a:p>
            <a:r>
              <a:rPr lang="en-US" sz="2000" b="1" cap="none" spc="0" dirty="0">
                <a:ln w="12700" cmpd="sng">
                  <a:solidFill>
                    <a:schemeClr val="accent4"/>
                  </a:solidFill>
                  <a:prstDash val="solid"/>
                </a:ln>
                <a:effectLst/>
                <a:latin typeface="Bahnschrift" panose="020B0502040204020203" pitchFamily="34" charset="0"/>
              </a:rPr>
              <a:t>     </a:t>
            </a:r>
            <a:r>
              <a:rPr lang="en-US" sz="2000" dirty="0">
                <a:latin typeface="Bahnschrift" panose="020B0502040204020203" pitchFamily="34" charset="0"/>
              </a:rPr>
              <a:t>registered voter is eligible to vote or not.</a:t>
            </a:r>
          </a:p>
          <a:p>
            <a:endParaRPr lang="en-US" sz="2000" b="1" cap="none" spc="0" dirty="0">
              <a:ln w="12700" cmpd="sng">
                <a:solidFill>
                  <a:schemeClr val="accent4"/>
                </a:solidFill>
                <a:prstDash val="solid"/>
              </a:ln>
              <a:effectLst/>
              <a:latin typeface="Bahnschrift" panose="020B0502040204020203" pitchFamily="34" charset="0"/>
            </a:endParaRPr>
          </a:p>
        </p:txBody>
      </p:sp>
    </p:spTree>
    <p:extLst>
      <p:ext uri="{BB962C8B-B14F-4D97-AF65-F5344CB8AC3E}">
        <p14:creationId xmlns:p14="http://schemas.microsoft.com/office/powerpoint/2010/main" val="1476664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29267" y="53249"/>
            <a:ext cx="5975797" cy="646331"/>
          </a:xfrm>
          <a:prstGeom prst="rect">
            <a:avLst/>
          </a:prstGeom>
          <a:solidFill>
            <a:srgbClr val="FF0000"/>
          </a:solidFill>
        </p:spPr>
        <p:txBody>
          <a:bodyPr wrap="square" lIns="91440" tIns="45720" rIns="91440" bIns="45720">
            <a:spAutoFit/>
          </a:bodyPr>
          <a:lstStyle/>
          <a:p>
            <a:pPr algn="ctr"/>
            <a:r>
              <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OBJECTIVE</a:t>
            </a:r>
            <a:endParaRPr lang="en-US" sz="3600" dirty="0"/>
          </a:p>
        </p:txBody>
      </p:sp>
      <p:sp>
        <p:nvSpPr>
          <p:cNvPr id="6" name="Rectangle 5"/>
          <p:cNvSpPr/>
          <p:nvPr/>
        </p:nvSpPr>
        <p:spPr>
          <a:xfrm>
            <a:off x="1" y="978794"/>
            <a:ext cx="9634330" cy="707886"/>
          </a:xfrm>
          <a:prstGeom prst="rect">
            <a:avLst/>
          </a:prstGeom>
          <a:noFill/>
        </p:spPr>
        <p:txBody>
          <a:bodyPr wrap="square" lIns="91440" tIns="45720" rIns="91440" bIns="45720">
            <a:spAutoFit/>
          </a:bodyPr>
          <a:lstStyle/>
          <a:p>
            <a:pPr algn="ctr"/>
            <a:r>
              <a:rPr lang="en-US" sz="2000" b="1" i="1" dirty="0">
                <a:latin typeface="Bahnschrift" panose="020B0502040204020203" pitchFamily="34" charset="0"/>
              </a:rPr>
              <a:t>Modern Secured Digital e-Voting &amp; Analysis aka MSDEA has been</a:t>
            </a:r>
          </a:p>
          <a:p>
            <a:pPr algn="ctr"/>
            <a:r>
              <a:rPr lang="en-US" sz="2000" b="1" i="1" dirty="0">
                <a:latin typeface="Bahnschrift" panose="020B0502040204020203" pitchFamily="34" charset="0"/>
              </a:rPr>
              <a:t>developed by keeping the following objective into an account :</a:t>
            </a:r>
            <a:endParaRPr lang="en-US" sz="2000" b="1" i="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ahnschrift" panose="020B0502040204020203" pitchFamily="34" charset="0"/>
            </a:endParaRPr>
          </a:p>
        </p:txBody>
      </p:sp>
      <p:sp>
        <p:nvSpPr>
          <p:cNvPr id="7" name="TextBox 6"/>
          <p:cNvSpPr txBox="1"/>
          <p:nvPr/>
        </p:nvSpPr>
        <p:spPr>
          <a:xfrm>
            <a:off x="1086679" y="1864937"/>
            <a:ext cx="12192000" cy="4939814"/>
          </a:xfrm>
          <a:prstGeom prst="rect">
            <a:avLst/>
          </a:prstGeom>
          <a:noFill/>
        </p:spPr>
        <p:txBody>
          <a:bodyPr wrap="square" rtlCol="0">
            <a:spAutoFit/>
          </a:bodyPr>
          <a:lstStyle/>
          <a:p>
            <a:r>
              <a:rPr lang="en-US" sz="1500" b="1" i="1" u="sng" dirty="0">
                <a:solidFill>
                  <a:srgbClr val="FF0000"/>
                </a:solidFill>
                <a:latin typeface="Bahnschrift" panose="020B0502040204020203" pitchFamily="34" charset="0"/>
              </a:rPr>
              <a:t>Authenticity:</a:t>
            </a:r>
            <a:r>
              <a:rPr lang="en-US" sz="1500" b="1" i="1" dirty="0">
                <a:solidFill>
                  <a:srgbClr val="0070C0"/>
                </a:solidFill>
                <a:latin typeface="Bahnschrift" panose="020B0502040204020203" pitchFamily="34" charset="0"/>
              </a:rPr>
              <a:t> </a:t>
            </a:r>
            <a:r>
              <a:rPr lang="en-US" sz="1500" dirty="0">
                <a:latin typeface="Bahnschrift" panose="020B0502040204020203" pitchFamily="34" charset="0"/>
              </a:rPr>
              <a:t>This means that only selected voters can vote and the voting system</a:t>
            </a:r>
          </a:p>
          <a:p>
            <a:r>
              <a:rPr lang="en-US" sz="1500" dirty="0">
                <a:latin typeface="Bahnschrift" panose="020B0502040204020203" pitchFamily="34" charset="0"/>
              </a:rPr>
              <a:t>must ensure that the use of appropriate authentication mechanisms that a</a:t>
            </a:r>
          </a:p>
          <a:p>
            <a:r>
              <a:rPr lang="en-US" sz="1500" dirty="0">
                <a:latin typeface="Bahnschrift" panose="020B0502040204020203" pitchFamily="34" charset="0"/>
              </a:rPr>
              <a:t>selected voter is the one that cast the vote.</a:t>
            </a:r>
          </a:p>
          <a:p>
            <a:endParaRPr lang="en-US" sz="1500" dirty="0">
              <a:solidFill>
                <a:srgbClr val="002060"/>
              </a:solidFill>
              <a:latin typeface="Bahnschrift" panose="020B0502040204020203" pitchFamily="34" charset="0"/>
            </a:endParaRPr>
          </a:p>
          <a:p>
            <a:r>
              <a:rPr lang="en-US" sz="1500" b="1" i="1" u="sng" dirty="0">
                <a:solidFill>
                  <a:srgbClr val="FF0000"/>
                </a:solidFill>
                <a:latin typeface="Bahnschrift" panose="020B0502040204020203" pitchFamily="34" charset="0"/>
              </a:rPr>
              <a:t>Freedom:</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The voting system must provide the ability to all selected voters to vote</a:t>
            </a:r>
          </a:p>
          <a:p>
            <a:r>
              <a:rPr lang="en-US" sz="1500" dirty="0">
                <a:latin typeface="Bahnschrift" panose="020B0502040204020203" pitchFamily="34" charset="0"/>
              </a:rPr>
              <a:t>for whatever candidate they wish, or none for an election process.</a:t>
            </a:r>
          </a:p>
          <a:p>
            <a:endParaRPr lang="en-US" sz="1500" dirty="0">
              <a:solidFill>
                <a:srgbClr val="002060"/>
              </a:solidFill>
              <a:latin typeface="Bahnschrift" panose="020B0502040204020203" pitchFamily="34" charset="0"/>
            </a:endParaRPr>
          </a:p>
          <a:p>
            <a:r>
              <a:rPr lang="en-US" sz="1500" b="1" i="1" u="sng" dirty="0">
                <a:solidFill>
                  <a:srgbClr val="FF0000"/>
                </a:solidFill>
                <a:latin typeface="Bahnschrift" panose="020B0502040204020203" pitchFamily="34" charset="0"/>
              </a:rPr>
              <a:t>Eligibility:</a:t>
            </a:r>
            <a:r>
              <a:rPr lang="en-US" sz="1500" b="1" i="1" u="sng" dirty="0">
                <a:latin typeface="Bahnschrift" panose="020B0502040204020203" pitchFamily="34" charset="0"/>
              </a:rPr>
              <a:t> </a:t>
            </a:r>
            <a:r>
              <a:rPr lang="en-US" sz="1500" dirty="0">
                <a:latin typeface="Bahnschrift" panose="020B0502040204020203" pitchFamily="34" charset="0"/>
              </a:rPr>
              <a:t>Only eligible voters are permitted to vote.</a:t>
            </a:r>
          </a:p>
          <a:p>
            <a:endParaRPr lang="en-US" sz="1500" dirty="0">
              <a:solidFill>
                <a:srgbClr val="002060"/>
              </a:solidFill>
              <a:latin typeface="Bahnschrift" panose="020B0502040204020203" pitchFamily="34" charset="0"/>
            </a:endParaRPr>
          </a:p>
          <a:p>
            <a:r>
              <a:rPr lang="en-US" sz="1500" b="1" i="1" u="sng" dirty="0">
                <a:solidFill>
                  <a:srgbClr val="FF0000"/>
                </a:solidFill>
                <a:latin typeface="Bahnschrift" panose="020B0502040204020203" pitchFamily="34" charset="0"/>
              </a:rPr>
              <a:t>Practicability:</a:t>
            </a:r>
            <a:r>
              <a:rPr lang="en-US" sz="1500" b="1" i="1" dirty="0">
                <a:solidFill>
                  <a:srgbClr val="002060"/>
                </a:solidFill>
                <a:latin typeface="Bahnschrift" panose="020B0502040204020203" pitchFamily="34" charset="0"/>
              </a:rPr>
              <a:t> </a:t>
            </a:r>
            <a:r>
              <a:rPr lang="en-US" sz="1500" dirty="0">
                <a:latin typeface="Bahnschrift" panose="020B0502040204020203" pitchFamily="34" charset="0"/>
              </a:rPr>
              <a:t>No extra skills are required to vote and no additional equipment is</a:t>
            </a:r>
          </a:p>
          <a:p>
            <a:r>
              <a:rPr lang="en-US" sz="1500" dirty="0">
                <a:latin typeface="Bahnschrift" panose="020B0502040204020203" pitchFamily="34" charset="0"/>
              </a:rPr>
              <a:t>required.</a:t>
            </a:r>
          </a:p>
          <a:p>
            <a:endParaRPr lang="en-US" sz="1500" dirty="0">
              <a:solidFill>
                <a:srgbClr val="002060"/>
              </a:solidFill>
              <a:latin typeface="Bahnschrift" panose="020B0502040204020203" pitchFamily="34" charset="0"/>
            </a:endParaRPr>
          </a:p>
          <a:p>
            <a:r>
              <a:rPr lang="en-US" sz="1500" b="1" i="1" u="sng" dirty="0">
                <a:solidFill>
                  <a:srgbClr val="FF0000"/>
                </a:solidFill>
                <a:latin typeface="Bahnschrift" panose="020B0502040204020203" pitchFamily="34" charset="0"/>
              </a:rPr>
              <a:t>Security:</a:t>
            </a:r>
            <a:r>
              <a:rPr lang="en-US" sz="1500" b="1" i="1" dirty="0">
                <a:latin typeface="Bahnschrift" panose="020B0502040204020203" pitchFamily="34" charset="0"/>
              </a:rPr>
              <a:t> </a:t>
            </a:r>
            <a:r>
              <a:rPr lang="en-US" sz="1500" dirty="0">
                <a:latin typeface="Bahnschrift" panose="020B0502040204020203" pitchFamily="34" charset="0"/>
              </a:rPr>
              <a:t>During an election process the voting system must maintain vote</a:t>
            </a:r>
          </a:p>
          <a:p>
            <a:r>
              <a:rPr lang="en-US" sz="1500" dirty="0">
                <a:latin typeface="Bahnschrift" panose="020B0502040204020203" pitchFamily="34" charset="0"/>
              </a:rPr>
              <a:t>integrity, voter anonymity when casting the vote.</a:t>
            </a:r>
          </a:p>
          <a:p>
            <a:endParaRPr lang="en-US" sz="1500" dirty="0">
              <a:solidFill>
                <a:srgbClr val="002060"/>
              </a:solidFill>
              <a:latin typeface="Bahnschrift" panose="020B0502040204020203" pitchFamily="34" charset="0"/>
            </a:endParaRPr>
          </a:p>
          <a:p>
            <a:r>
              <a:rPr lang="en-US" sz="1500" b="1" i="1" u="sng" dirty="0">
                <a:solidFill>
                  <a:srgbClr val="FF0000"/>
                </a:solidFill>
                <a:latin typeface="Bahnschrift" panose="020B0502040204020203" pitchFamily="34" charset="0"/>
              </a:rPr>
              <a:t>Uniqueness:</a:t>
            </a:r>
            <a:r>
              <a:rPr lang="en-US" sz="1500" b="1" i="1" dirty="0">
                <a:latin typeface="Bahnschrift" panose="020B0502040204020203" pitchFamily="34" charset="0"/>
              </a:rPr>
              <a:t> </a:t>
            </a:r>
            <a:r>
              <a:rPr lang="en-US" sz="1500" dirty="0">
                <a:latin typeface="Bahnschrift" panose="020B0502040204020203" pitchFamily="34" charset="0"/>
              </a:rPr>
              <a:t>The voting system must provide appropriate mechanisms that</a:t>
            </a:r>
          </a:p>
          <a:p>
            <a:r>
              <a:rPr lang="en-US" sz="1500" dirty="0">
                <a:latin typeface="Bahnschrift" panose="020B0502040204020203" pitchFamily="34" charset="0"/>
              </a:rPr>
              <a:t>ensure that voters are uniquely identified for an election process and vote only</a:t>
            </a:r>
          </a:p>
          <a:p>
            <a:r>
              <a:rPr lang="en-US" sz="1500" dirty="0">
                <a:latin typeface="Bahnschrift" panose="020B0502040204020203" pitchFamily="34" charset="0"/>
              </a:rPr>
              <a:t>once.</a:t>
            </a:r>
          </a:p>
          <a:p>
            <a:endParaRPr lang="en-US" sz="1500" dirty="0">
              <a:solidFill>
                <a:srgbClr val="002060"/>
              </a:solidFill>
              <a:latin typeface="Bahnschrift" panose="020B0502040204020203" pitchFamily="34" charset="0"/>
            </a:endParaRPr>
          </a:p>
          <a:p>
            <a:r>
              <a:rPr lang="en-US" sz="1500" b="1" i="1" u="sng" dirty="0">
                <a:solidFill>
                  <a:srgbClr val="FF0000"/>
                </a:solidFill>
                <a:latin typeface="Bahnschrift" panose="020B0502040204020203" pitchFamily="34" charset="0"/>
              </a:rPr>
              <a:t>Verifiability:</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The voting system must provide the voter a proof receipt that</a:t>
            </a:r>
          </a:p>
          <a:p>
            <a:r>
              <a:rPr lang="en-US" sz="1500" dirty="0">
                <a:latin typeface="Bahnschrift" panose="020B0502040204020203" pitchFamily="34" charset="0"/>
              </a:rPr>
              <a:t>his/her vote drop at the server has been was acknowledged.</a:t>
            </a:r>
          </a:p>
        </p:txBody>
      </p:sp>
    </p:spTree>
    <p:extLst>
      <p:ext uri="{BB962C8B-B14F-4D97-AF65-F5344CB8AC3E}">
        <p14:creationId xmlns:p14="http://schemas.microsoft.com/office/powerpoint/2010/main" val="2805382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13" y="959093"/>
            <a:ext cx="8772939" cy="4939814"/>
          </a:xfrm>
          <a:prstGeom prst="rect">
            <a:avLst/>
          </a:prstGeom>
          <a:noFill/>
        </p:spPr>
        <p:txBody>
          <a:bodyPr wrap="square" rtlCol="0">
            <a:spAutoFit/>
          </a:bodyPr>
          <a:lstStyle/>
          <a:p>
            <a:r>
              <a:rPr lang="en-US" sz="1500" b="1" i="1" u="sng" dirty="0">
                <a:solidFill>
                  <a:srgbClr val="FF0000"/>
                </a:solidFill>
                <a:latin typeface="Bahnschrift" panose="020B0502040204020203" pitchFamily="34" charset="0"/>
              </a:rPr>
              <a:t>Fairness: </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The voting system must not provide any information about the out come of vote count during the election process.</a:t>
            </a:r>
          </a:p>
          <a:p>
            <a:endParaRPr lang="en-US" sz="1500" dirty="0">
              <a:latin typeface="Bahnschrift" panose="020B0502040204020203" pitchFamily="34" charset="0"/>
            </a:endParaRPr>
          </a:p>
          <a:p>
            <a:r>
              <a:rPr lang="en-US" sz="1500" b="1" i="1" u="sng" dirty="0">
                <a:solidFill>
                  <a:srgbClr val="FF0000"/>
                </a:solidFill>
                <a:latin typeface="Bahnschrift" panose="020B0502040204020203" pitchFamily="34" charset="0"/>
              </a:rPr>
              <a:t>Democracy:</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All votes are equal and have the same weight,</a:t>
            </a:r>
          </a:p>
          <a:p>
            <a:r>
              <a:rPr lang="en-US" sz="1500" dirty="0">
                <a:latin typeface="Bahnschrift" panose="020B0502040204020203" pitchFamily="34" charset="0"/>
              </a:rPr>
              <a:t>The principle: “One Voter- one Vote” must be sustained by the voting system during the election process.</a:t>
            </a:r>
          </a:p>
          <a:p>
            <a:endParaRPr lang="en-US" sz="1500" dirty="0">
              <a:latin typeface="Bahnschrift" panose="020B0502040204020203" pitchFamily="34" charset="0"/>
            </a:endParaRPr>
          </a:p>
          <a:p>
            <a:r>
              <a:rPr lang="en-US" sz="1500" b="1" i="1" u="sng" dirty="0">
                <a:solidFill>
                  <a:srgbClr val="FF0000"/>
                </a:solidFill>
                <a:latin typeface="Bahnschrift" panose="020B0502040204020203" pitchFamily="34" charset="0"/>
              </a:rPr>
              <a:t>Privacy (anonymity):</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When the votes are being verified by the election</a:t>
            </a:r>
          </a:p>
          <a:p>
            <a:r>
              <a:rPr lang="en-US" sz="1500" dirty="0">
                <a:latin typeface="Bahnschrift" panose="020B0502040204020203" pitchFamily="34" charset="0"/>
              </a:rPr>
              <a:t>committee, the voting system must provide anonymity mechanisms so that the</a:t>
            </a:r>
          </a:p>
          <a:p>
            <a:r>
              <a:rPr lang="en-US" sz="1500" dirty="0">
                <a:latin typeface="Bahnschrift" panose="020B0502040204020203" pitchFamily="34" charset="0"/>
              </a:rPr>
              <a:t>voter cannot be traced back by his/her vote. The voter remains anonymous.</a:t>
            </a:r>
          </a:p>
          <a:p>
            <a:endParaRPr lang="en-US" sz="1500" b="1" i="1" u="sng" dirty="0">
              <a:solidFill>
                <a:srgbClr val="FF0000"/>
              </a:solidFill>
              <a:latin typeface="Bahnschrift" panose="020B0502040204020203" pitchFamily="34" charset="0"/>
            </a:endParaRPr>
          </a:p>
          <a:p>
            <a:r>
              <a:rPr lang="en-US" sz="1500" b="1" i="1" u="sng" dirty="0">
                <a:solidFill>
                  <a:srgbClr val="FF0000"/>
                </a:solidFill>
                <a:latin typeface="Bahnschrift" panose="020B0502040204020203" pitchFamily="34" charset="0"/>
              </a:rPr>
              <a:t>Accuracy:</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All valid votes are counted correctly. The voting system must count all</a:t>
            </a:r>
          </a:p>
          <a:p>
            <a:r>
              <a:rPr lang="en-US" sz="1500" dirty="0">
                <a:latin typeface="Bahnschrift" panose="020B0502040204020203" pitchFamily="34" charset="0"/>
              </a:rPr>
              <a:t>votes and must count them as cast. A voter’s vote cannot be altered, duplicated,</a:t>
            </a:r>
          </a:p>
          <a:p>
            <a:r>
              <a:rPr lang="en-US" sz="1500" dirty="0">
                <a:latin typeface="Bahnschrift" panose="020B0502040204020203" pitchFamily="34" charset="0"/>
              </a:rPr>
              <a:t>or removed.</a:t>
            </a:r>
          </a:p>
          <a:p>
            <a:endParaRPr lang="en-US" sz="1500" dirty="0">
              <a:latin typeface="Bahnschrift" panose="020B0502040204020203" pitchFamily="34" charset="0"/>
            </a:endParaRPr>
          </a:p>
          <a:p>
            <a:r>
              <a:rPr lang="en-US" sz="1500" b="1" i="1" u="sng" dirty="0">
                <a:solidFill>
                  <a:srgbClr val="FF0000"/>
                </a:solidFill>
                <a:latin typeface="Bahnschrift" panose="020B0502040204020203" pitchFamily="34" charset="0"/>
              </a:rPr>
              <a:t>Accessibility:</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The electronic voting system must be accessible to voters regardless</a:t>
            </a:r>
          </a:p>
          <a:p>
            <a:r>
              <a:rPr lang="en-US" sz="1500" dirty="0">
                <a:latin typeface="Bahnschrift" panose="020B0502040204020203" pitchFamily="34" charset="0"/>
              </a:rPr>
              <a:t>of their geographical location or electronic equipment they use, so everybody can</a:t>
            </a:r>
          </a:p>
          <a:p>
            <a:r>
              <a:rPr lang="en-US" sz="1500" dirty="0">
                <a:latin typeface="Bahnschrift" panose="020B0502040204020203" pitchFamily="34" charset="0"/>
              </a:rPr>
              <a:t>access this electronic voting system.</a:t>
            </a:r>
          </a:p>
          <a:p>
            <a:endParaRPr lang="en-US" sz="1500" dirty="0">
              <a:latin typeface="Bahnschrift" panose="020B0502040204020203" pitchFamily="34" charset="0"/>
            </a:endParaRPr>
          </a:p>
          <a:p>
            <a:r>
              <a:rPr lang="en-US" sz="1500" b="1" i="1" u="sng" dirty="0">
                <a:solidFill>
                  <a:srgbClr val="FF0000"/>
                </a:solidFill>
                <a:latin typeface="Bahnschrift" panose="020B0502040204020203" pitchFamily="34" charset="0"/>
              </a:rPr>
              <a:t>Availability:</a:t>
            </a:r>
            <a:r>
              <a:rPr lang="en-US" sz="1500" b="1" i="1" dirty="0">
                <a:solidFill>
                  <a:srgbClr val="FF0000"/>
                </a:solidFill>
                <a:latin typeface="Bahnschrift" panose="020B0502040204020203" pitchFamily="34" charset="0"/>
              </a:rPr>
              <a:t>  </a:t>
            </a:r>
            <a:r>
              <a:rPr lang="en-US" sz="1500" dirty="0">
                <a:latin typeface="Bahnschrift" panose="020B0502040204020203" pitchFamily="34" charset="0"/>
              </a:rPr>
              <a:t>During a voting process, the electronic voting system must maintain</a:t>
            </a:r>
          </a:p>
          <a:p>
            <a:r>
              <a:rPr lang="en-US" sz="1500" dirty="0">
                <a:latin typeface="Bahnschrift" panose="020B0502040204020203" pitchFamily="34" charset="0"/>
              </a:rPr>
              <a:t>the same availability response for all voters.</a:t>
            </a:r>
          </a:p>
        </p:txBody>
      </p:sp>
    </p:spTree>
    <p:extLst>
      <p:ext uri="{BB962C8B-B14F-4D97-AF65-F5344CB8AC3E}">
        <p14:creationId xmlns:p14="http://schemas.microsoft.com/office/powerpoint/2010/main" val="2628525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9895" y="5464731"/>
            <a:ext cx="1908313" cy="1189485"/>
          </a:xfrm>
        </p:spPr>
      </p:pic>
      <p:sp>
        <p:nvSpPr>
          <p:cNvPr id="5" name="Rectangle 4"/>
          <p:cNvSpPr/>
          <p:nvPr/>
        </p:nvSpPr>
        <p:spPr>
          <a:xfrm>
            <a:off x="-993912" y="54408"/>
            <a:ext cx="12192000" cy="646331"/>
          </a:xfrm>
          <a:prstGeom prst="rect">
            <a:avLst/>
          </a:prstGeom>
          <a:noFill/>
        </p:spPr>
        <p:txBody>
          <a:bodyPr wrap="square" lIns="91440" tIns="45720" rIns="91440" bIns="45720">
            <a:spAutoFit/>
          </a:bodyPr>
          <a:lstStyle/>
          <a:p>
            <a:pPr algn="ctr"/>
            <a:r>
              <a:rPr lang="en-US" sz="3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TECHNOLOGIES USED</a:t>
            </a:r>
            <a:endParaRPr lang="en-US" sz="36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6" name="TextBox 5"/>
          <p:cNvSpPr txBox="1"/>
          <p:nvPr/>
        </p:nvSpPr>
        <p:spPr>
          <a:xfrm>
            <a:off x="929684" y="1099929"/>
            <a:ext cx="8768878" cy="4031873"/>
          </a:xfrm>
          <a:prstGeom prst="rect">
            <a:avLst/>
          </a:prstGeom>
          <a:noFill/>
        </p:spPr>
        <p:txBody>
          <a:bodyPr wrap="square" rtlCol="0">
            <a:spAutoFit/>
          </a:bodyPr>
          <a:lstStyle/>
          <a:p>
            <a:r>
              <a:rPr lang="en-US" sz="1600" dirty="0">
                <a:latin typeface="Bahnschrift" panose="020B0502040204020203" pitchFamily="34" charset="0"/>
              </a:rPr>
              <a:t>It is a web-based application. So, fundamental features related with web based technologies such as client server and database properties determine the software requirement of this system.</a:t>
            </a:r>
          </a:p>
          <a:p>
            <a:endParaRPr lang="en-US" sz="1600" dirty="0">
              <a:latin typeface="Bahnschrift" panose="020B0502040204020203" pitchFamily="34" charset="0"/>
            </a:endParaRPr>
          </a:p>
          <a:p>
            <a:pPr marL="285750" indent="-285750">
              <a:buFont typeface="Wingdings" panose="05000000000000000000" pitchFamily="2" charset="2"/>
              <a:buChar char="v"/>
            </a:pPr>
            <a:r>
              <a:rPr lang="en-US" sz="1600" dirty="0">
                <a:latin typeface="Bahnschrift" panose="020B0502040204020203" pitchFamily="34" charset="0"/>
              </a:rPr>
              <a:t> </a:t>
            </a:r>
            <a:r>
              <a:rPr lang="en-US" sz="1600" b="1" i="1" u="sng" dirty="0">
                <a:solidFill>
                  <a:srgbClr val="FF0000"/>
                </a:solidFill>
                <a:latin typeface="Bahnschrift" panose="020B0502040204020203" pitchFamily="34" charset="0"/>
              </a:rPr>
              <a:t>Frontend:</a:t>
            </a:r>
          </a:p>
          <a:p>
            <a:endParaRPr lang="en-US" sz="1600" b="1" i="1" u="sng" dirty="0">
              <a:solidFill>
                <a:srgbClr val="FF0000"/>
              </a:solidFill>
              <a:latin typeface="Bahnschrift" panose="020B0502040204020203" pitchFamily="34" charset="0"/>
            </a:endParaRPr>
          </a:p>
          <a:p>
            <a:r>
              <a:rPr lang="en-US" sz="1600" dirty="0">
                <a:latin typeface="Bahnschrift" panose="020B0502040204020203" pitchFamily="34" charset="0"/>
              </a:rPr>
              <a:t>	HTML, CSS, JavaScript</a:t>
            </a:r>
          </a:p>
          <a:p>
            <a:endParaRPr lang="en-US" sz="1600" dirty="0">
              <a:latin typeface="Bahnschrift" panose="020B0502040204020203" pitchFamily="34" charset="0"/>
            </a:endParaRPr>
          </a:p>
          <a:p>
            <a:pPr marL="285750" indent="-285750">
              <a:buFont typeface="Wingdings" panose="05000000000000000000" pitchFamily="2" charset="2"/>
              <a:buChar char="v"/>
            </a:pPr>
            <a:r>
              <a:rPr lang="en-US" sz="1600" dirty="0">
                <a:latin typeface="Bahnschrift" panose="020B0502040204020203" pitchFamily="34" charset="0"/>
              </a:rPr>
              <a:t> </a:t>
            </a:r>
            <a:r>
              <a:rPr lang="en-US" sz="1600" b="1" i="1" u="sng" dirty="0">
                <a:solidFill>
                  <a:srgbClr val="FF0000"/>
                </a:solidFill>
                <a:latin typeface="Bahnschrift" panose="020B0502040204020203" pitchFamily="34" charset="0"/>
              </a:rPr>
              <a:t>Backend:</a:t>
            </a:r>
          </a:p>
          <a:p>
            <a:endParaRPr lang="en-US" sz="1600" b="1" i="1" u="sng" dirty="0">
              <a:solidFill>
                <a:srgbClr val="FF0000"/>
              </a:solidFill>
              <a:latin typeface="Bahnschrift" panose="020B0502040204020203" pitchFamily="34" charset="0"/>
            </a:endParaRPr>
          </a:p>
          <a:p>
            <a:r>
              <a:rPr lang="en-US" sz="1600" dirty="0">
                <a:latin typeface="Bahnschrift" panose="020B0502040204020203" pitchFamily="34" charset="0"/>
              </a:rPr>
              <a:t>	Flask (web framework written in Python), SQLAlchemy (Python SQL toolkit and Object</a:t>
            </a:r>
          </a:p>
          <a:p>
            <a:r>
              <a:rPr lang="en-US" sz="1600" dirty="0">
                <a:latin typeface="Bahnschrift" panose="020B0502040204020203" pitchFamily="34" charset="0"/>
              </a:rPr>
              <a:t>	Relational Mapper)</a:t>
            </a:r>
          </a:p>
          <a:p>
            <a:endParaRPr lang="en-US" sz="1600" dirty="0">
              <a:latin typeface="Bahnschrift" panose="020B0502040204020203" pitchFamily="34" charset="0"/>
            </a:endParaRPr>
          </a:p>
          <a:p>
            <a:pPr marL="285750" indent="-285750">
              <a:buFont typeface="Wingdings" panose="05000000000000000000" pitchFamily="2" charset="2"/>
              <a:buChar char="v"/>
            </a:pPr>
            <a:r>
              <a:rPr lang="en-US" sz="1600" dirty="0">
                <a:latin typeface="Bahnschrift" panose="020B0502040204020203" pitchFamily="34" charset="0"/>
              </a:rPr>
              <a:t> </a:t>
            </a:r>
            <a:r>
              <a:rPr lang="en-US" sz="1600" b="1" i="1" u="sng" dirty="0">
                <a:solidFill>
                  <a:srgbClr val="FF0000"/>
                </a:solidFill>
                <a:latin typeface="Bahnschrift" panose="020B0502040204020203" pitchFamily="34" charset="0"/>
              </a:rPr>
              <a:t>Database:</a:t>
            </a:r>
          </a:p>
          <a:p>
            <a:endParaRPr lang="en-US" sz="1600" b="1" i="1" u="sng" dirty="0">
              <a:solidFill>
                <a:srgbClr val="FF0000"/>
              </a:solidFill>
              <a:latin typeface="Bahnschrift" panose="020B0502040204020203" pitchFamily="34" charset="0"/>
            </a:endParaRPr>
          </a:p>
          <a:p>
            <a:r>
              <a:rPr lang="en-US" sz="1600" dirty="0">
                <a:latin typeface="Bahnschrift" panose="020B0502040204020203" pitchFamily="34" charset="0"/>
              </a:rPr>
              <a:t>	MySQL (an open-source relational database management system)</a:t>
            </a:r>
          </a:p>
        </p:txBody>
      </p:sp>
    </p:spTree>
    <p:extLst>
      <p:ext uri="{BB962C8B-B14F-4D97-AF65-F5344CB8AC3E}">
        <p14:creationId xmlns:p14="http://schemas.microsoft.com/office/powerpoint/2010/main" val="420210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9754" y="190351"/>
            <a:ext cx="8373603" cy="646331"/>
          </a:xfrm>
          <a:prstGeom prst="rect">
            <a:avLst/>
          </a:prstGeom>
          <a:noFill/>
        </p:spPr>
        <p:txBody>
          <a:bodyPr wrap="square" lIns="91440" tIns="45720" rIns="91440" bIns="45720">
            <a:spAutoFit/>
          </a:bodyPr>
          <a:lstStyle/>
          <a:p>
            <a:pPr algn="ctr"/>
            <a:r>
              <a:rPr lang="en-US" sz="3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Interface</a:t>
            </a:r>
            <a:endParaRPr lang="en-US" sz="3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9" name="Picture 8">
            <a:extLst>
              <a:ext uri="{FF2B5EF4-FFF2-40B4-BE49-F238E27FC236}">
                <a16:creationId xmlns:a16="http://schemas.microsoft.com/office/drawing/2014/main" id="{8B1AF3A7-B9B3-4013-A793-2CFB7CA4A457}"/>
              </a:ext>
            </a:extLst>
          </p:cNvPr>
          <p:cNvPicPr>
            <a:picLocks noChangeAspect="1"/>
          </p:cNvPicPr>
          <p:nvPr/>
        </p:nvPicPr>
        <p:blipFill>
          <a:blip r:embed="rId2"/>
          <a:stretch>
            <a:fillRect/>
          </a:stretch>
        </p:blipFill>
        <p:spPr>
          <a:xfrm>
            <a:off x="504336" y="1045948"/>
            <a:ext cx="4412221" cy="5793002"/>
          </a:xfrm>
          <a:prstGeom prst="rect">
            <a:avLst/>
          </a:prstGeom>
        </p:spPr>
      </p:pic>
      <p:pic>
        <p:nvPicPr>
          <p:cNvPr id="11" name="Picture 10">
            <a:extLst>
              <a:ext uri="{FF2B5EF4-FFF2-40B4-BE49-F238E27FC236}">
                <a16:creationId xmlns:a16="http://schemas.microsoft.com/office/drawing/2014/main" id="{470F8E82-8674-4523-81EE-EC2C3E7BA2FF}"/>
              </a:ext>
            </a:extLst>
          </p:cNvPr>
          <p:cNvPicPr>
            <a:picLocks noChangeAspect="1"/>
          </p:cNvPicPr>
          <p:nvPr/>
        </p:nvPicPr>
        <p:blipFill>
          <a:blip r:embed="rId3"/>
          <a:stretch>
            <a:fillRect/>
          </a:stretch>
        </p:blipFill>
        <p:spPr>
          <a:xfrm>
            <a:off x="4916556" y="1064998"/>
            <a:ext cx="3829125" cy="5021903"/>
          </a:xfrm>
          <a:prstGeom prst="rect">
            <a:avLst/>
          </a:prstGeom>
        </p:spPr>
      </p:pic>
      <p:cxnSp>
        <p:nvCxnSpPr>
          <p:cNvPr id="13" name="Straight Arrow Connector 12">
            <a:extLst>
              <a:ext uri="{FF2B5EF4-FFF2-40B4-BE49-F238E27FC236}">
                <a16:creationId xmlns:a16="http://schemas.microsoft.com/office/drawing/2014/main" id="{189D5FA4-78FC-4982-8B02-5DA7CFF3B1BF}"/>
              </a:ext>
            </a:extLst>
          </p:cNvPr>
          <p:cNvCxnSpPr/>
          <p:nvPr/>
        </p:nvCxnSpPr>
        <p:spPr>
          <a:xfrm flipV="1">
            <a:off x="4107976" y="2497540"/>
            <a:ext cx="1988024" cy="10645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DCA5A6C8-DB4F-43AB-B957-27620ABD8D24}"/>
              </a:ext>
            </a:extLst>
          </p:cNvPr>
          <p:cNvCxnSpPr/>
          <p:nvPr/>
        </p:nvCxnSpPr>
        <p:spPr>
          <a:xfrm>
            <a:off x="3114675" y="1828800"/>
            <a:ext cx="3200400" cy="150495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81939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39534" y="78580"/>
            <a:ext cx="5298625" cy="646331"/>
          </a:xfrm>
          <a:prstGeom prst="rect">
            <a:avLst/>
          </a:prstGeom>
          <a:noFill/>
        </p:spPr>
        <p:txBody>
          <a:bodyPr wrap="square" lIns="91440" tIns="45720" rIns="91440" bIns="45720">
            <a:spAutoFit/>
          </a:bodyPr>
          <a:lstStyle/>
          <a:p>
            <a:pPr algn="ctr"/>
            <a:r>
              <a:rPr lang="en-US" sz="3600" dirty="0">
                <a:ln w="0"/>
                <a:effectLst>
                  <a:outerShdw blurRad="38100" dist="19050" dir="2700000" algn="tl" rotWithShape="0">
                    <a:schemeClr val="dk1">
                      <a:alpha val="40000"/>
                    </a:schemeClr>
                  </a:outerShdw>
                </a:effectLst>
                <a:latin typeface="Algerian" panose="04020705040A02060702" pitchFamily="82" charset="0"/>
              </a:rPr>
              <a:t>ADVANTAGES</a:t>
            </a:r>
            <a:endParaRPr lang="en-US" sz="3600" b="0" cap="none" spc="0"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p:txBody>
      </p:sp>
      <p:sp>
        <p:nvSpPr>
          <p:cNvPr id="6" name="TextBox 5"/>
          <p:cNvSpPr txBox="1"/>
          <p:nvPr/>
        </p:nvSpPr>
        <p:spPr>
          <a:xfrm>
            <a:off x="1146411" y="1120462"/>
            <a:ext cx="9062113" cy="5047536"/>
          </a:xfrm>
          <a:prstGeom prst="rect">
            <a:avLst/>
          </a:prstGeom>
          <a:noFill/>
        </p:spPr>
        <p:txBody>
          <a:bodyPr wrap="square" rtlCol="0">
            <a:spAutoFit/>
          </a:bodyPr>
          <a:lstStyle/>
          <a:p>
            <a:r>
              <a:rPr lang="en-US" sz="1400" b="1" i="1" u="sng" dirty="0">
                <a:solidFill>
                  <a:srgbClr val="FF0000"/>
                </a:solidFill>
                <a:latin typeface="Bahnschrift" panose="020B0502040204020203" pitchFamily="34" charset="0"/>
              </a:rPr>
              <a:t>Advantages for the Voters</a:t>
            </a:r>
          </a:p>
          <a:p>
            <a:endParaRPr lang="en-US" sz="1400" dirty="0">
              <a:latin typeface="Bahnschrift" panose="020B0502040204020203" pitchFamily="34" charset="0"/>
            </a:endParaRPr>
          </a:p>
          <a:p>
            <a:r>
              <a:rPr lang="en-US" sz="1400" dirty="0">
                <a:latin typeface="Bahnschrift" panose="020B0502040204020203" pitchFamily="34" charset="0"/>
              </a:rPr>
              <a:t>MSDEA will speeds up the voting process, especially where advance</a:t>
            </a:r>
          </a:p>
          <a:p>
            <a:r>
              <a:rPr lang="en-US" sz="1400" dirty="0">
                <a:latin typeface="Bahnschrift" panose="020B0502040204020203" pitchFamily="34" charset="0"/>
              </a:rPr>
              <a:t>voting is concerned. Voters no longer have to go to the polling booths to cast</a:t>
            </a:r>
          </a:p>
          <a:p>
            <a:r>
              <a:rPr lang="en-US" sz="1400" dirty="0">
                <a:latin typeface="Bahnschrift" panose="020B0502040204020203" pitchFamily="34" charset="0"/>
              </a:rPr>
              <a:t>their vote, votes can be casted sitting anywhere with a working internet</a:t>
            </a:r>
          </a:p>
          <a:p>
            <a:r>
              <a:rPr lang="en-US" sz="1400" dirty="0">
                <a:latin typeface="Bahnschrift" panose="020B0502040204020203" pitchFamily="34" charset="0"/>
              </a:rPr>
              <a:t>connection.</a:t>
            </a:r>
          </a:p>
          <a:p>
            <a:r>
              <a:rPr lang="en-US" sz="1400" dirty="0">
                <a:latin typeface="Bahnschrift" panose="020B0502040204020203" pitchFamily="34" charset="0"/>
              </a:rPr>
              <a:t>MSDEA will also increase the security and reliability of elections.</a:t>
            </a:r>
          </a:p>
          <a:p>
            <a:r>
              <a:rPr lang="en-US" sz="1400" dirty="0">
                <a:latin typeface="Bahnschrift" panose="020B0502040204020203" pitchFamily="34" charset="0"/>
              </a:rPr>
              <a:t>Further, in MSDEA it is not possible to make voting errors by mistake, because the</a:t>
            </a:r>
          </a:p>
          <a:p>
            <a:r>
              <a:rPr lang="en-US" sz="1400" dirty="0">
                <a:latin typeface="Bahnschrift" panose="020B0502040204020203" pitchFamily="34" charset="0"/>
              </a:rPr>
              <a:t>identification information of the chosen candidate will appear on the screen</a:t>
            </a:r>
          </a:p>
          <a:p>
            <a:r>
              <a:rPr lang="en-US" sz="1400" dirty="0">
                <a:latin typeface="Bahnschrift" panose="020B0502040204020203" pitchFamily="34" charset="0"/>
              </a:rPr>
              <a:t>before the vote is confirmed.</a:t>
            </a:r>
          </a:p>
          <a:p>
            <a:r>
              <a:rPr lang="en-US" sz="1400" dirty="0">
                <a:latin typeface="Bahnschrift" panose="020B0502040204020203" pitchFamily="34" charset="0"/>
              </a:rPr>
              <a:t>Another advantage for the voter is that there is no ambiguity in interpreting</a:t>
            </a:r>
          </a:p>
          <a:p>
            <a:r>
              <a:rPr lang="en-US" sz="1400" dirty="0">
                <a:latin typeface="Bahnschrift" panose="020B0502040204020203" pitchFamily="34" charset="0"/>
              </a:rPr>
              <a:t>an electronic vote.</a:t>
            </a:r>
          </a:p>
          <a:p>
            <a:endParaRPr lang="en-US" sz="1400" dirty="0">
              <a:latin typeface="Bahnschrift" panose="020B0502040204020203" pitchFamily="34" charset="0"/>
            </a:endParaRPr>
          </a:p>
          <a:p>
            <a:r>
              <a:rPr lang="en-US" sz="1400" b="1" i="1" u="sng" dirty="0">
                <a:solidFill>
                  <a:srgbClr val="FF0000"/>
                </a:solidFill>
                <a:latin typeface="Bahnschrift" panose="020B0502040204020203" pitchFamily="34" charset="0"/>
              </a:rPr>
              <a:t>Advantages for the Authorities</a:t>
            </a:r>
          </a:p>
          <a:p>
            <a:endParaRPr lang="en-US" sz="1400" dirty="0">
              <a:latin typeface="Bahnschrift" panose="020B0502040204020203" pitchFamily="34" charset="0"/>
            </a:endParaRPr>
          </a:p>
          <a:p>
            <a:r>
              <a:rPr lang="en-US" sz="1400" dirty="0">
                <a:latin typeface="Bahnschrift" panose="020B0502040204020203" pitchFamily="34" charset="0"/>
              </a:rPr>
              <a:t>MSDEA reduces and simplifies the work of the authorities significantly.</a:t>
            </a:r>
          </a:p>
          <a:p>
            <a:r>
              <a:rPr lang="en-US" sz="1400" dirty="0">
                <a:latin typeface="Bahnschrift" panose="020B0502040204020203" pitchFamily="34" charset="0"/>
              </a:rPr>
              <a:t>MSDEA leads to notable cost savings through reduced personnel, especially in the</a:t>
            </a:r>
          </a:p>
          <a:p>
            <a:r>
              <a:rPr lang="en-US" sz="1400" dirty="0">
                <a:latin typeface="Bahnschrift" panose="020B0502040204020203" pitchFamily="34" charset="0"/>
              </a:rPr>
              <a:t>advance voting.</a:t>
            </a:r>
          </a:p>
          <a:p>
            <a:r>
              <a:rPr lang="en-US" sz="1400" dirty="0">
                <a:latin typeface="Bahnschrift" panose="020B0502040204020203" pitchFamily="34" charset="0"/>
              </a:rPr>
              <a:t>MSDEA will deliver also other cost savings. For example, various envelopes, forms</a:t>
            </a:r>
          </a:p>
          <a:p>
            <a:r>
              <a:rPr lang="en-US" sz="1400" dirty="0">
                <a:latin typeface="Bahnschrift" panose="020B0502040204020203" pitchFamily="34" charset="0"/>
              </a:rPr>
              <a:t>and documents are no longer needed.</a:t>
            </a:r>
          </a:p>
          <a:p>
            <a:r>
              <a:rPr lang="en-US" sz="1400" dirty="0">
                <a:latin typeface="Bahnschrift" panose="020B0502040204020203" pitchFamily="34" charset="0"/>
              </a:rPr>
              <a:t>Votes casted on MSDEA can be counted by just one click, and the result of the</a:t>
            </a:r>
          </a:p>
          <a:p>
            <a:r>
              <a:rPr lang="en-US" sz="1400" dirty="0">
                <a:latin typeface="Bahnschrift" panose="020B0502040204020203" pitchFamily="34" charset="0"/>
              </a:rPr>
              <a:t>vote will be declared immediately.</a:t>
            </a:r>
          </a:p>
          <a:p>
            <a:endParaRPr lang="en-US" sz="1400" dirty="0">
              <a:latin typeface="Bahnschrift" panose="020B0502040204020203" pitchFamily="34" charset="0"/>
            </a:endParaRPr>
          </a:p>
        </p:txBody>
      </p:sp>
    </p:spTree>
    <p:extLst>
      <p:ext uri="{BB962C8B-B14F-4D97-AF65-F5344CB8AC3E}">
        <p14:creationId xmlns:p14="http://schemas.microsoft.com/office/powerpoint/2010/main" val="1139804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11684" y="54591"/>
            <a:ext cx="12192000" cy="646331"/>
          </a:xfrm>
          <a:prstGeom prst="rect">
            <a:avLst/>
          </a:prstGeom>
          <a:noFill/>
        </p:spPr>
        <p:txBody>
          <a:bodyPr wrap="square" lIns="91440" tIns="45720" rIns="91440" bIns="45720">
            <a:spAutoFit/>
          </a:bodyPr>
          <a:lstStyle/>
          <a:p>
            <a:pPr algn="ctr"/>
            <a:r>
              <a:rPr lang="en-US" sz="3600" b="1" cap="none" spc="0" dirty="0">
                <a:ln w="9525">
                  <a:solidFill>
                    <a:schemeClr val="bg1"/>
                  </a:solidFill>
                  <a:prstDash val="solid"/>
                </a:ln>
                <a:effectLst>
                  <a:outerShdw blurRad="12700" dist="38100" dir="2700000" algn="tl" rotWithShape="0">
                    <a:schemeClr val="accent5">
                      <a:lumMod val="60000"/>
                      <a:lumOff val="40000"/>
                    </a:schemeClr>
                  </a:outerShdw>
                </a:effectLst>
              </a:rPr>
              <a:t>FUTURE DEVELOPMENT</a:t>
            </a:r>
          </a:p>
        </p:txBody>
      </p:sp>
      <p:sp>
        <p:nvSpPr>
          <p:cNvPr id="6" name="TextBox 5"/>
          <p:cNvSpPr txBox="1"/>
          <p:nvPr/>
        </p:nvSpPr>
        <p:spPr>
          <a:xfrm>
            <a:off x="824632" y="1867313"/>
            <a:ext cx="8319368" cy="3139321"/>
          </a:xfrm>
          <a:prstGeom prst="rect">
            <a:avLst/>
          </a:prstGeom>
          <a:noFill/>
        </p:spPr>
        <p:txBody>
          <a:bodyPr wrap="square" rtlCol="0">
            <a:spAutoFit/>
          </a:bodyPr>
          <a:lstStyle/>
          <a:p>
            <a:pPr marL="342900" indent="-342900">
              <a:buFont typeface="Wingdings" panose="05000000000000000000" pitchFamily="2" charset="2"/>
              <a:buChar char="v"/>
            </a:pPr>
            <a:r>
              <a:rPr lang="en-US" dirty="0">
                <a:latin typeface="Bahnschrift" panose="020B0502040204020203" pitchFamily="34" charset="0"/>
              </a:rPr>
              <a:t>For enhancing the security in this e-Voting, we can add face recognition system   using ML and AI. Further, we can add biometric too as an extra layer of security.</a:t>
            </a:r>
          </a:p>
          <a:p>
            <a:endParaRPr lang="en-US" dirty="0">
              <a:latin typeface="Bahnschrift" panose="020B0502040204020203" pitchFamily="34" charset="0"/>
            </a:endParaRPr>
          </a:p>
          <a:p>
            <a:pPr marL="342900" indent="-342900">
              <a:buFont typeface="Wingdings" panose="05000000000000000000" pitchFamily="2" charset="2"/>
              <a:buChar char="v"/>
            </a:pPr>
            <a:r>
              <a:rPr lang="en-US" dirty="0">
                <a:latin typeface="Bahnschrift" panose="020B0502040204020203" pitchFamily="34" charset="0"/>
              </a:rPr>
              <a:t> Some extra features like voice assistance support and multi-language</a:t>
            </a:r>
          </a:p>
          <a:p>
            <a:r>
              <a:rPr lang="en-US" dirty="0">
                <a:latin typeface="Bahnschrift" panose="020B0502040204020203" pitchFamily="34" charset="0"/>
              </a:rPr>
              <a:t>       feature can be added, so that it can help in the casting of vote to the blind</a:t>
            </a:r>
          </a:p>
          <a:p>
            <a:r>
              <a:rPr lang="en-US" dirty="0">
                <a:latin typeface="Bahnschrift" panose="020B0502040204020203" pitchFamily="34" charset="0"/>
              </a:rPr>
              <a:t>       and people belonging to less educated background.</a:t>
            </a:r>
          </a:p>
          <a:p>
            <a:endParaRPr lang="en-US" dirty="0">
              <a:latin typeface="Bahnschrift" panose="020B0502040204020203" pitchFamily="34" charset="0"/>
            </a:endParaRPr>
          </a:p>
          <a:p>
            <a:pPr marL="342900" indent="-342900">
              <a:buFont typeface="Wingdings" panose="05000000000000000000" pitchFamily="2" charset="2"/>
              <a:buChar char="v"/>
            </a:pPr>
            <a:r>
              <a:rPr lang="en-US" dirty="0">
                <a:latin typeface="Bahnschrift" panose="020B0502040204020203" pitchFamily="34" charset="0"/>
              </a:rPr>
              <a:t>Some more security enhancement can be done to make the election process smooth and transparent for both voter as well as for the candidates who are contesting the elections.</a:t>
            </a:r>
          </a:p>
        </p:txBody>
      </p:sp>
    </p:spTree>
    <p:extLst>
      <p:ext uri="{BB962C8B-B14F-4D97-AF65-F5344CB8AC3E}">
        <p14:creationId xmlns:p14="http://schemas.microsoft.com/office/powerpoint/2010/main" val="4134306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630EE2-9065-48CA-B0A6-645D8A5160E2}"/>
              </a:ext>
            </a:extLst>
          </p:cNvPr>
          <p:cNvPicPr>
            <a:picLocks noChangeAspect="1"/>
          </p:cNvPicPr>
          <p:nvPr/>
        </p:nvPicPr>
        <p:blipFill rotWithShape="1">
          <a:blip r:embed="rId2"/>
          <a:srcRect t="-6735" b="10534"/>
          <a:stretch/>
        </p:blipFill>
        <p:spPr>
          <a:xfrm>
            <a:off x="0" y="0"/>
            <a:ext cx="2006221" cy="2402006"/>
          </a:xfrm>
          <a:prstGeom prst="rect">
            <a:avLst/>
          </a:prstGeom>
        </p:spPr>
      </p:pic>
      <p:sp>
        <p:nvSpPr>
          <p:cNvPr id="7" name="TextBox 6">
            <a:extLst>
              <a:ext uri="{FF2B5EF4-FFF2-40B4-BE49-F238E27FC236}">
                <a16:creationId xmlns:a16="http://schemas.microsoft.com/office/drawing/2014/main" id="{C2F88FFB-47B5-4CF1-960D-A23396317DB4}"/>
              </a:ext>
            </a:extLst>
          </p:cNvPr>
          <p:cNvSpPr txBox="1"/>
          <p:nvPr/>
        </p:nvSpPr>
        <p:spPr>
          <a:xfrm>
            <a:off x="1364776" y="2770201"/>
            <a:ext cx="8079473" cy="1938992"/>
          </a:xfrm>
          <a:prstGeom prst="rect">
            <a:avLst/>
          </a:prstGeom>
          <a:noFill/>
        </p:spPr>
        <p:txBody>
          <a:bodyPr wrap="square" rtlCol="0">
            <a:spAutoFit/>
          </a:bodyPr>
          <a:lstStyle/>
          <a:p>
            <a:r>
              <a:rPr lang="en-US" sz="2000" dirty="0">
                <a:solidFill>
                  <a:srgbClr val="00B0F0"/>
                </a:solidFill>
                <a:latin typeface="Bahnschrift" panose="020B0502040204020203" pitchFamily="34" charset="0"/>
              </a:rPr>
              <a:t>MSDEA presents numerous advantages over traditional voting system. In the initial stage there will be of course a little cost for planning and introduction.     </a:t>
            </a:r>
          </a:p>
          <a:p>
            <a:r>
              <a:rPr lang="en-US" sz="2000" dirty="0">
                <a:solidFill>
                  <a:srgbClr val="00B0F0"/>
                </a:solidFill>
                <a:latin typeface="Bahnschrift" panose="020B0502040204020203" pitchFamily="34" charset="0"/>
              </a:rPr>
              <a:t>But, in the long run and with a widespread introduction, this e-Voting system will lead to a new revolution in elections, and many cost savings too.</a:t>
            </a:r>
          </a:p>
        </p:txBody>
      </p:sp>
      <p:sp>
        <p:nvSpPr>
          <p:cNvPr id="8" name="Rectangle 7">
            <a:extLst>
              <a:ext uri="{FF2B5EF4-FFF2-40B4-BE49-F238E27FC236}">
                <a16:creationId xmlns:a16="http://schemas.microsoft.com/office/drawing/2014/main" id="{26222C65-09F5-490C-ADE9-A943066A3EC3}"/>
              </a:ext>
            </a:extLst>
          </p:cNvPr>
          <p:cNvSpPr/>
          <p:nvPr/>
        </p:nvSpPr>
        <p:spPr>
          <a:xfrm>
            <a:off x="3367886" y="5819718"/>
            <a:ext cx="3572838" cy="923330"/>
          </a:xfrm>
          <a:prstGeom prst="rect">
            <a:avLst/>
          </a:prstGeom>
          <a:noFill/>
        </p:spPr>
        <p:txBody>
          <a:bodyPr wrap="non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30404164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413</TotalTime>
  <Words>1188</Words>
  <Application>Microsoft Office PowerPoint</Application>
  <PresentationFormat>Widescreen</PresentationFormat>
  <Paragraphs>144</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Aparajita</vt:lpstr>
      <vt:lpstr>Arial</vt:lpstr>
      <vt:lpstr>Bahnschrift</vt:lpstr>
      <vt:lpstr>Trebuchet MS</vt:lpstr>
      <vt:lpstr>Wingdings</vt:lpstr>
      <vt:lpstr>Wingdings 3</vt:lpstr>
      <vt:lpstr>Facet</vt:lpstr>
      <vt:lpstr>       SATHYABAMA INSTITUE OF SCIENCE AND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JAYESH</cp:lastModifiedBy>
  <cp:revision>28</cp:revision>
  <dcterms:created xsi:type="dcterms:W3CDTF">2019-05-29T17:36:51Z</dcterms:created>
  <dcterms:modified xsi:type="dcterms:W3CDTF">2020-08-06T14:00:32Z</dcterms:modified>
</cp:coreProperties>
</file>